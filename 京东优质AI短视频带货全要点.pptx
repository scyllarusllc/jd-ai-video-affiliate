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这是一份从京东创作者帮助中心 58 篇官方文档和 60 条参考链接蒸馏出来的规则要点。今天用十几分钟，把账号门槛、内容定位、视频参数、封面标题、脚本口播、挂品选品、发布审核和合规红线一次讲清，最后给到 AI 专项自检清单。目标是让大家照着做就能过审、拿公域流量、不踩处罚红线。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全篇分六个模块：先过账号门槛、再定内容方向，然后是视频本身的硬参数、封面标题、脚本口播和挂品选品，接着讲发布审核流程，最后是合规红线和专门针对 AI 生成视频的自检清单。每一块都对应官方文档原文，不是经验之谈。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账号是地基。优质行为四条：周更、资料完善、手段正当、垂直人设。关键看等级：G1、G2 挂品受限，G3 以上除黑名单都能挂，G4 以上才能申请公域二创权益。做 AI 带货第一件事就是把号养到 G3，否则后面脚本做得再好也挂不上品。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平台内容导向是高品质、强价值、有个性。官方只认两种价值：种草型靠真体验唤起"我也想试试"，一个视频只打一两个稀缺种草点；卖点型靠商品加场景直接展示"东西真不错"，选决策成本低的品。两种都要真人讲解、解决痛点，别拍成 TVC 硬广。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这一页全是硬杠杠，不达标直接拒审。分辨率必须大于720P；竖版9比16、横版16比9不能加遮幅，极速版只收竖版；绝对不能发无声视频，必须有BGM或口播；画面要稳要清晰；竖版字幕别压顶压底。做 AI 视频时导出参数就按这张表设。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时长直接影响公域分发。官方明确最友好的区间是15到20秒，AI带货短视频默认就做这个长度。不同类型参考这张表：测评可以1到3分钟讲透，开箱上身15秒起步，卖点种草压到30秒内，剧情类30秒以上，首页露出只截5到10秒精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封面是第一眼点击率。规格记两条：横版1比1、竖版3比4，商家版不低于720乘1080。内容上用实拍场景图加花字，一眼能看出商品卖点，主体别截断别断头。红线是水印、拼接、白底商详图、明星肖像和促销文字；AI生成的封面要走实拍风格，渲染广告图会被判过度营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题决定点击。硬规范：10到27字、全角标点、禁绝对词和促销价格。优选标题=人群场景+数字+利益点+悬念。比如"选T恤6个小技巧闭眼买不出错"。反面是只说商品名、功能空洞夸张、商业广告腔。核心是让用户知道看完能得到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脚本四维度：美观、有用、真实、可看。卖点提炼关键是功能词必须加效果词，比如不能只写"保湿抗老"，要写"保湿抗老冻龄秘诀"，标签4到8个字。开头22字内一句话点题。话术套五步：卖点总结、通俗讲解、细节展示、适用人群、理由收尾，AI脚本直接照这个结构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音频是AI视频高频翻车点。通用要求：必须有声、音质干净、音画字幕三者同步、语速自然、BGM不压人声。对数字人特别强调：口播必须有实质商品讲解，空洞念白直接算劣质AIGC。做AI配音时，文案要真讲产品卖点，不能配个数字人念套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挂品三个数字记牢：单条最多10个品，选品佣金不低于1%，商品30天内要有动销。最核心一条是货对品——视频、封面、标题、挂的商品必须一致，AI生成的商品外观跟真实详情页对不上，同样判货不对品。选品优先低饱和度，就是这个SKU别人发得少、你发了更容易拿到流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发布走dr.jd.com创作中心。审核状态：草稿、审核中、私域上线、公域上线，驳回可申诉一次。公域才进逛、首页、搜索和商详测评楼层。关键限制：公域上线后不能换视频文件，标题标签只能改一次，超180天不能改。所以视频一次做对很重要，发出去再后悔就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处罚是阶梯：警告只是提醒，到二级就收回CPS带货权限，三级直接关号。红线是涉政黄毒爆、抄袭洗稿、重复无意义内容三次以上，直接冻结30天或永久关闭。低质判定里跟AI最相关的是劣质AIGC——模板化批量、AI幻觉都算。还有硬指标：连续三个月不发文永久关号，一个月上线不到5篇次月关权限，不能养号不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是行动清单，做AI视频发布前逐条对照。左边管内容画面：不模板批量、无AI幻觉、商品和详情页一致、数字人有干货；右边管规格包装：15到20秒、720P以上竖版、音画同步、字幕不压边、封面实拍风、标题合规。一句话总结：过账号门槛、内容打准点、画面做写实、挂品货对品，就能稳定过审拿公域流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C720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143000" y="190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JD.COM · 创作者培训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143000" y="2476500"/>
            <a:ext cx="990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京东优质AI短视频带货全要点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3" flipH="false" flipV="false">
            <a:off x="1168436" y="4184650"/>
            <a:ext cx="111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143000" y="4445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58 篇官方文档蒸馏 · 从账号门槛到合规红线的一站式行动清单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43000" y="58420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蒸馏日期 2026-10-18　|　适用对象：AI 生成视频 + 京东挂品带货创作者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这份指南讲什么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517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905000" y="203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账号门槛与内容定位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05000" y="24384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G1-G7 挂品权限 · 种草型与卖点型怎么选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350000" y="203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239000" y="203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视频硬参数与黄金时长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239000" y="24384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分辨率/比例/时长红线 · 15-20 秒公域友好区间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330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905000" y="330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封面图与标题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905000" y="37084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第一眼点击率 · 青铜标题到王者公式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350000" y="330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239000" y="330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脚本、口播与选品挂品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239000" y="37084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四维度优质内容 · 卖点话术 · 挂品不违规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16000" y="457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905000" y="457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发布与审核流程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905000" y="49784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审核状态机 · 二次编辑限制 · 公域露出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350000" y="4572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239000" y="457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合规红线与 AI 自检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239000" y="49784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处罚阶梯 · 劣质 AIGC 判定 · 12 条自检清单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先过门槛再谈创作：账号等级决定你能挂什么品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587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优质账号的四个前提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032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8333"/>
              </a:lnSpc>
              <a:buClr>
                <a:srgbClr val="323232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发文活跃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：每周发文量大于 1，账号基础信息完善</a:t>
            </a:r>
            <a:endParaRPr lang="en-US" sz="1100"/>
          </a:p>
          <a:p>
            <a:pPr algn="l" indent="-177800" marL="177800">
              <a:lnSpc>
                <a:spcPct val="158333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头像昵称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：不可用系统默认头像/昵称，真实自然、与人设匹配</a:t>
            </a:r>
          </a:p>
          <a:p>
            <a:pPr algn="l" indent="-177800" marL="177800">
              <a:lnSpc>
                <a:spcPct val="158333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手段正当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：不通过不正当手段制作发布视频，整体守平台规范</a:t>
            </a:r>
          </a:p>
          <a:p>
            <a:pPr algn="l" indent="-177800" marL="177800">
              <a:lnSpc>
                <a:spcPct val="158333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垂直统一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：有专注领域、人物或标志有信赖背书，风格鲜明有记忆点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350000" y="1651000"/>
          <a:ext cx="4826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3429000"/>
              </a:tblGrid>
              <a:tr h="546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账号等级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203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挂品与权益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2030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/ G2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挂品受限：带标签内容无法挂品发布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G3 - G7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除品类黑名单外，挂品不受限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G4 及以上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可申请「公域内容二次编辑」权益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6350000" y="4572000"/>
            <a:ext cx="4826000" cy="889000"/>
          </a:xfrm>
          <a:prstGeom prst="roundRect">
            <a:avLst>
              <a:gd name="adj" fmla="val 0"/>
            </a:avLst>
          </a:prstGeom>
          <a:solidFill>
            <a:srgbClr val="C72030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578600" y="4724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行动提示</a:t>
            </a:r>
            <a:r>
              <a:rPr lang="en-US" b="false" i="false" strike="noStrike" u="none" sz="13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：新号先冲 G3 解锁挂品，G4 再申请二创权益；劣质账号只能挂「我的商品」。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做什么内容：平台只认两种价值主张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4224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平台内容导向：高品质、强价值、有个性 —— 垂直、人设统一、制作精良的内容才有流量倾斜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DED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333500" y="2286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种草型 ·「我也想试试」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33500" y="2794000"/>
            <a:ext cx="406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逻辑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：真体验、真分享，唤起代入感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做法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：只聚焦 1-2 个核心种草点，点要稀缺且满足需求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四类爆点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：外观超美 / 功能超牛 / 价格超值 / 体验超有戏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032000"/>
            <a:ext cx="469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DED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540500" y="2286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卖点型 ·「东西真不错」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540500" y="2794000"/>
            <a:ext cx="406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逻辑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：商品 + 使用场景直接展示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做法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：讲清卖点、使用效果、适用范围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选品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：物美价廉、中肯实用、决策成本低的商品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565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避坑：真人实拍讲解、效果对比解决痛点；不要做成 TVC 电视广告式一味推销。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视频硬参数：这几条不达标直接拒审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651000"/>
          <a:ext cx="10160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8128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2030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官方硬性要求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2030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分辨率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必须大于 720P，禁止 720P 以下画面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画面比例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横版 16:9、竖版 9:16，不得出现遮幅；极速版只收竖版（横版拒审）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C7203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音频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禁止无声视频，必须有 BGM 或口播音频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画面质量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清晰不模糊、镜头稳定不抖动、无截断、色调正常、不拖尾跳帧越轴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字幕位置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竖版字幕不得加在画面顶部和底部；外文/方言须配中文注释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格式体积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MP4 / MOV / MKV；商家版 ≤5G，极速版 30MB-500MB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时长怎么定：公域流量最偏爱 15-20 秒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20320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15-20"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683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官方 Q&amp;A 强调的公域流量友好区间。AI 带货短视频默认按这个时长做：卖点 + 效果 + 适用人群一次讲完。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969000" y="1905000"/>
          <a:ext cx="5207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175000"/>
                <a:gridCol w="2032000"/>
              </a:tblGrid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3C3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建议时长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3C3C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商品测评（通俗讲解+真实体验）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1-3 分钟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开箱 / 试穿试戴 / 操作演示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 秒以上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商品卖点种草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 秒以内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剧情 / 科普 / 资讯类娱乐内容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 秒以上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APP 首页露出小视频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5-10 秒精华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封面图：第一眼决定点击率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5875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硬性规格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006600"/>
          <a:ext cx="4826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540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横版视频封面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比例 1:1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竖版视频封面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比例 3:4，≥720×1080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极速版封面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竖版 9:16，≥495×879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发现好货频道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600×600 方图，&lt;500K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6223000" y="15875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内容怎么做才优选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223000" y="2006600"/>
            <a:ext cx="4953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45833"/>
              </a:lnSpc>
              <a:buClr>
                <a:srgbClr val="323232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实拍图、场景图 + 适当花字；电脑渲染图判过度营销</a:t>
            </a:r>
            <a:endParaRPr lang="en-US" sz="1100"/>
          </a:p>
          <a:p>
            <a:pPr algn="l" indent="-177800" marL="1778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一眼看出商品用途 / 特色 / 卖点，突出主推品</a:t>
            </a:r>
          </a:p>
          <a:p>
            <a:pPr algn="l" indent="-177800" marL="1778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构图完整、主体无遮挡、不截断、不断头、无黑边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381500"/>
            <a:ext cx="10160000" cy="1397000"/>
          </a:xfrm>
          <a:prstGeom prst="roundRect">
            <a:avLst>
              <a:gd name="adj" fmla="val 0"/>
            </a:avLst>
          </a:prstGeom>
          <a:solidFill>
            <a:srgbClr val="C72030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270000" y="4546600"/>
            <a:ext cx="965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封面禁止项</a:t>
            </a:r>
            <a:r>
              <a:rPr lang="en-US" b="false" i="false" strike="noStrike" u="none" sz="13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：水印、拼接图、白底商详图、纯外包装图、明星肖像、透明图、钱币、含促销价格文字。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官方驳回点</a:t>
            </a:r>
            <a:r>
              <a:rPr lang="en-US" b="false" i="false" strike="noStrike" u="none" sz="13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：压缩模糊、截断黑边、与商品不相关、非实拍渲染图、断头、低俗。AI 做封面走实拍风格场景图，别用过度渲染广告图。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标题：从青铜到王者，差在给不给确切利益点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5875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硬规范（红线）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006600"/>
            <a:ext cx="4826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10-27 字，两段式用中文全角标点，不用空格</a:t>
            </a:r>
            <a:endParaRPr lang="en-US" sz="1100"/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禁绝对词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：最、唯一、第一、必备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禁促销价格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：满减、特价、包邮、到手价、秒杀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文题相符，不标题党、不堆砌溢美之词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223000" y="15875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优选公式（王者）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223000" y="2006600"/>
            <a:ext cx="4953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人群 / 场景 + 数字 + 利益点 + 悬念对比</a:t>
            </a:r>
            <a:endParaRPr lang="en-US" sz="1100"/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3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：选 T 恤 6 个小技巧，闭眼买不出错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3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：130 斤微胖穿搭，3 套外套百搭显瘦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3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例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：混油皮春夏怎么选面膜？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8260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1DED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270000" y="49784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心法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：抓住好奇心、欲望、与我相关；让用户一眼知道看完能得到什么。拒绝广告腔，用生活化、场景化、数字化表达。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脚本怎么写：四维度打底，五步话术结构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5494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优质内容四维度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19304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美观度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画面清晰、镜头稳、音质净、主体完整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619500" y="19304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有用性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专业视角输出干货，信息真实有决策参考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223000" y="19304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真实感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基于真实体验客观分享，传递独到见解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826500" y="1930400"/>
            <a:ext cx="234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可看性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叙事流畅、剪辑有技巧，有趣不拖沓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3321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1DE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1016000" y="3530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卖点提炼（脚本核心）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3911600"/>
            <a:ext cx="533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#卖点# 标签 4-8 字，</a:t>
            </a: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功能词必须加效果词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开头一句话总结卖点，22 字以内、句号结尾</a:t>
            </a:r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用形象比喻 + 网络热词，拒绝商详式平淡描述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731000" y="3530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推荐话术五步结构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731000" y="3911600"/>
            <a:ext cx="4445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① 卖点一句话总结 → ② 通俗讲解+真实体验 → ③ 细节效果展示 → ④ 适用人群场景 → ⑤ 推荐理由收尾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声音与口播：AI 配音最容易翻车的地方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651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音频通用要求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095500"/>
            <a:ext cx="49530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4166"/>
              </a:lnSpc>
              <a:buClr>
                <a:srgbClr val="323232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必须有口播或 BGM，</a:t>
            </a: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禁止无声视频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541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音质纯净无背景噪音，对话清晰可听清</a:t>
            </a:r>
          </a:p>
          <a:p>
            <a:pPr algn="l" indent="-177800" marL="177800">
              <a:lnSpc>
                <a:spcPct val="154166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音画同步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：语音、画面、字幕三者一致，不错位</a:t>
            </a:r>
          </a:p>
          <a:p>
            <a:pPr algn="l" indent="-177800" marL="177800">
              <a:lnSpc>
                <a:spcPct val="1541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语速适中，BGM 与主体声音协调、不压人声</a:t>
            </a:r>
          </a:p>
          <a:p>
            <a:pPr algn="l" indent="-177800" marL="177800">
              <a:lnSpc>
                <a:spcPct val="1541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外文、方言必须配中文注释 / 翻译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651000"/>
            <a:ext cx="4953000" cy="3429000"/>
          </a:xfrm>
          <a:prstGeom prst="roundRect">
            <a:avLst>
              <a:gd name="adj" fmla="val 0"/>
            </a:avLst>
          </a:prstGeom>
          <a:solidFill>
            <a:srgbClr val="C72030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477000" y="1879600"/>
            <a:ext cx="444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数字人口播特别提醒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477000" y="2349500"/>
            <a:ext cx="4445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0000"/>
              </a:lnSpc>
              <a:buClr>
                <a:srgbClr val="3C2828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3C2828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</a:t>
            </a:r>
            <a:r>
              <a:rPr lang="en-US" b="true" i="false" strike="noStrike" u="none" sz="1400">
                <a:solidFill>
                  <a:srgbClr val="3C2828"/>
                </a:solidFill>
                <a:latin typeface="Noto Sans SC"/>
                <a:ea typeface="Noto Sans SC"/>
                <a:cs typeface="Noto Sans SC"/>
                <a:sym typeface="Noto Sans SC"/>
              </a:rPr>
              <a:t>必须有实质商品讲解</a:t>
            </a:r>
            <a:r>
              <a:rPr lang="en-US" b="false" i="false" strike="noStrike" u="none" sz="1400">
                <a:solidFill>
                  <a:srgbClr val="3C282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50000"/>
              </a:lnSpc>
              <a:buClr>
                <a:srgbClr val="3C2828"/>
              </a:buClr>
              <a:buChar char="•"/>
            </a:pPr>
            <a:r>
              <a:rPr lang="en-US" b="false" i="false" strike="noStrike" u="none" sz="1400">
                <a:solidFill>
                  <a:srgbClr val="3C2828"/>
                </a:solidFill>
                <a:latin typeface="Noto Sans SC"/>
                <a:ea typeface="Noto Sans SC"/>
                <a:cs typeface="Noto Sans SC"/>
                <a:sym typeface="Noto Sans SC"/>
              </a:rPr>
              <a:t>文案空洞、无实质内容 = 劣质 AIGC</a:t>
            </a:r>
          </a:p>
          <a:p>
            <a:pPr algn="l" indent="-177800" marL="177800">
              <a:lnSpc>
                <a:spcPct val="150000"/>
              </a:lnSpc>
              <a:buClr>
                <a:srgbClr val="3C2828"/>
              </a:buClr>
              <a:buChar char="•"/>
            </a:pPr>
            <a:r>
              <a:rPr lang="en-US" b="false" i="false" strike="noStrike" u="none" sz="1400">
                <a:solidFill>
                  <a:srgbClr val="3C2828"/>
                </a:solidFill>
                <a:latin typeface="Noto Sans SC"/>
                <a:ea typeface="Noto Sans SC"/>
                <a:cs typeface="Noto Sans SC"/>
                <a:sym typeface="Noto Sans SC"/>
              </a:rPr>
              <a:t>不能只有氛围画面配空泛念白</a:t>
            </a:r>
          </a:p>
          <a:p>
            <a:pPr algn="l" indent="-177800" marL="177800">
              <a:lnSpc>
                <a:spcPct val="150000"/>
              </a:lnSpc>
              <a:buClr>
                <a:srgbClr val="3C2828"/>
              </a:buClr>
              <a:buChar char="•"/>
            </a:pPr>
            <a:r>
              <a:rPr lang="en-US" b="false" i="false" strike="noStrike" u="none" sz="1400">
                <a:solidFill>
                  <a:srgbClr val="3C2828"/>
                </a:solidFill>
                <a:latin typeface="Noto Sans SC"/>
                <a:ea typeface="Noto Sans SC"/>
                <a:cs typeface="Noto Sans SC"/>
                <a:sym typeface="Noto Sans SC"/>
              </a:rPr>
              <a:t>口播语速自然、与口型字幕对齐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挂品选品：货不对品是严重违规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714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≤10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540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单条内容最多关联商品数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683000" y="1714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≥1%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683000" y="2540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选品广场商品通用佣金门槛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1714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30天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25400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所选商品需有动销记录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297" flipH="false" flipV="false">
            <a:off x="1016004" y="329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1DE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3556000"/>
            <a:ext cx="10160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50000"/>
              </a:lnSpc>
              <a:buClr>
                <a:srgbClr val="323232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货对品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：视频、封面、标题必须与挂载商品一致（品牌/外观/型号/规格），货不对品=严重违规</a:t>
            </a:r>
            <a:endParaRPr lang="en-US" sz="1100"/>
          </a:p>
          <a:p>
            <a:pPr algn="l" indent="-177800" marL="177800">
              <a:lnSpc>
                <a:spcPct val="150000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禁批量同质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：禁止用高度同质化视频批量关联不同品牌 SKU</a:t>
            </a:r>
          </a:p>
          <a:p>
            <a:pPr algn="l" indent="-177800" marL="177800">
              <a:lnSpc>
                <a:spcPct val="150000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选低饱和度商品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：该 SKU 短视频内容越少、佣金越高，越容易获得流量</a:t>
            </a:r>
          </a:p>
          <a:p>
            <a:pPr algn="l" indent="-177800" marL="177800">
              <a:lnSpc>
                <a:spcPct val="150000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AI 一致性</a:t>
            </a: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：画面中的商品外观/颜色/型号必须与详情页完全一致，否则算货不对品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发布与审核：理解状态机，才知道卡在哪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651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审核状态流转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1524000" cy="711200"/>
          </a:xfrm>
          <a:prstGeom prst="roundRect">
            <a:avLst>
              <a:gd name="adj" fmla="val 0"/>
            </a:avLst>
          </a:prstGeom>
          <a:solidFill>
            <a:srgbClr val="F0EE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095500"/>
            <a:ext cx="152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草稿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21000" y="2095500"/>
            <a:ext cx="1524000" cy="711200"/>
          </a:xfrm>
          <a:prstGeom prst="roundRect">
            <a:avLst>
              <a:gd name="adj" fmla="val 0"/>
            </a:avLst>
          </a:prstGeom>
          <a:solidFill>
            <a:srgbClr val="F0EE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921000" y="2095500"/>
            <a:ext cx="152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审核中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2095500"/>
            <a:ext cx="1651000" cy="711200"/>
          </a:xfrm>
          <a:prstGeom prst="roundRect">
            <a:avLst>
              <a:gd name="adj" fmla="val 0"/>
            </a:avLst>
          </a:prstGeom>
          <a:solidFill>
            <a:srgbClr val="F0EE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826000" y="2095500"/>
            <a:ext cx="1651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私域上线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58000" y="2095500"/>
            <a:ext cx="1651000" cy="711200"/>
          </a:xfrm>
          <a:prstGeom prst="roundRect">
            <a:avLst>
              <a:gd name="adj" fmla="val 0"/>
            </a:avLst>
          </a:prstGeom>
          <a:solidFill>
            <a:srgbClr val="C7203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858000" y="2095500"/>
            <a:ext cx="1651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公域上线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22724" flipH="false" flipV="false">
            <a:off x="2540113" y="24447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4" id="14"/>
          <p:cNvCxnSpPr/>
          <p:nvPr/>
        </p:nvCxnSpPr>
        <p:spPr>
          <a:xfrm rot="-122724" flipH="false" flipV="false">
            <a:off x="4445113" y="24447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5" id="15"/>
          <p:cNvCxnSpPr/>
          <p:nvPr/>
        </p:nvCxnSpPr>
        <p:spPr>
          <a:xfrm rot="-122724" flipH="false" flipV="false">
            <a:off x="6477113" y="2444750"/>
            <a:ext cx="35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8787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1016000" y="2984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公域场域：逛频道 · 首页推荐 · 搜索 · 商详视频测评楼层；驳回可编辑重审、可申诉一次。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3556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二次编辑限制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16000" y="3962400"/>
            <a:ext cx="5080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公域上线后</a:t>
            </a: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不能替换视频文件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标题/描述/标签仅可修改 1 次</a:t>
            </a:r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上线超 180 天内容不可编辑</a:t>
            </a:r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流量券生效中、京任务已验收不可编辑</a:t>
            </a:r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350000" y="35560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发布频率提醒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350000" y="3962400"/>
            <a:ext cx="4826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连续发 8 条以上，第 9 条弹验证码，别狂轰滥炸</a:t>
            </a:r>
            <a:endParaRPr lang="en-US" sz="1100"/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渠道投稿（推广中心）审核 5-15 个工作日，部分含考试</a:t>
            </a:r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活动投稿必须与主题强相关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合规红线：处罚是阶梯式的，越踩越重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636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587500"/>
          <a:ext cx="6350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953000"/>
              </a:tblGrid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等级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1423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处罚措施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1423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警告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警示提醒、每日发文下调、CPS 暂停提现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限创作任务、限关联高热商品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E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二级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进一步限制发文、</a:t>
                      </a:r>
                      <a:r>
                        <a:rPr lang="en-US" b="true" i="false" strike="noStrike" u="none" sz="1200">
                          <a:solidFill>
                            <a:srgbClr val="3232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收回 CPS 权限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A0142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A0142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关闭发文权限或封禁账号登录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A0142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红线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A0142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涉政黄毒爆、抄袭洗稿、无意义重复 3 次以上 → 冻结 30 日或永久关闭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 txBox="true"/>
          <p:nvPr/>
        </p:nvSpPr>
        <p:spPr>
          <a:xfrm rot="0" flipH="false" flipV="false">
            <a:off x="7747000" y="15875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低质内容判定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747000" y="2006600"/>
            <a:ext cx="3556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货不对品、错挂多挂</a:t>
            </a:r>
            <a:endParaRPr lang="en-US" sz="1100"/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画面 / 声音硬伤</a:t>
            </a:r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劣质 AIGC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：模板化、AI 幻觉</a:t>
            </a:r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信息量极低（≤3 秒无有效内容）</a:t>
            </a:r>
          </a:p>
          <a:p>
            <a:pPr algn="l" indent="-165100" marL="165100">
              <a:lnSpc>
                <a:spcPct val="141666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抄袭搬运、洗稿重发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747000" y="4699000"/>
            <a:ext cx="3556000" cy="635000"/>
          </a:xfrm>
          <a:prstGeom prst="roundRect">
            <a:avLst>
              <a:gd name="adj" fmla="val 0"/>
            </a:avLst>
          </a:prstGeom>
          <a:solidFill>
            <a:srgbClr val="C72030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924800" y="4800600"/>
            <a:ext cx="323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A01423"/>
                </a:solidFill>
                <a:latin typeface="Noto Sans SC"/>
                <a:ea typeface="Noto Sans SC"/>
                <a:cs typeface="Noto Sans SC"/>
                <a:sym typeface="Noto Sans SC"/>
              </a:rPr>
              <a:t>连续 3 月无发文永久关号；月上线 &lt;5 篇次月关权限。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9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71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AI 视频发布前：对照这 12 条自检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9265" flipH="false" flipV="false">
            <a:off x="1041455" y="1200150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7203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524000"/>
            <a:ext cx="5080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内容与画面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不做同一模板批量生产、批量挂不同 SKU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无 AI 幻觉：logo、版型、文字、人体比例正常，无手指多脚变形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人脸与商品清晰不变形，色调自然不过度调色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商品外观型号颜色与挂载详情页完全一致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画面围绕商品，不跑题、不无有效信息量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数字人口播有实质商品讲解，不空洞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6223000" y="1524000"/>
            <a:ext cx="5080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tru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规格与包装</a:t>
            </a: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时长 15-20 秒（测评可 1-3 分钟），卖点+效果+人群讲全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≥720P、9:16 竖版、无遮幅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有口播或 BGM，音质纯净、音画同步、BGM 不压人声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字幕不压画面顶部和底部，与语音一致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封面实拍风格场景图+花字，不用渲染广告图</a:t>
            </a:r>
          </a:p>
          <a:p>
            <a:pPr algn="l" indent="-165100" marL="165100">
              <a:lnSpc>
                <a:spcPct val="145833"/>
              </a:lnSpc>
              <a:buClr>
                <a:srgbClr val="323232"/>
              </a:buClr>
              <a:buChar char="•"/>
            </a:pPr>
            <a:r>
              <a:rPr lang="en-US" b="false" i="false" strike="noStrike" u="none" sz="13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标题用优选公式，无绝对词、无促销价格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577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72030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一句话：过门槛、打准点、做写实、货对品——公域流量和带货收益自然来。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